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0"/>
  </p:notesMasterIdLst>
  <p:handoutMasterIdLst>
    <p:handoutMasterId r:id="rId11"/>
  </p:handoutMasterIdLst>
  <p:sldIdLst>
    <p:sldId id="312" r:id="rId5"/>
    <p:sldId id="304" r:id="rId6"/>
    <p:sldId id="323" r:id="rId7"/>
    <p:sldId id="324" r:id="rId8"/>
    <p:sldId id="325" r:id="rId9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88" autoAdjust="0"/>
  </p:normalViewPr>
  <p:slideViewPr>
    <p:cSldViewPr snapToGrid="0" snapToObjects="1">
      <p:cViewPr varScale="1">
        <p:scale>
          <a:sx n="78" d="100"/>
          <a:sy n="78" d="100"/>
        </p:scale>
        <p:origin x="878" y="72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91997" y="127819"/>
            <a:ext cx="6608005" cy="2064775"/>
          </a:xfrm>
        </p:spPr>
        <p:txBody>
          <a:bodyPr anchor="ctr"/>
          <a:lstStyle/>
          <a:p>
            <a:r>
              <a:rPr lang="en-US" dirty="0"/>
              <a:t>BANKING PROJECT</a:t>
            </a:r>
            <a:br>
              <a:rPr lang="en-US" dirty="0"/>
            </a:br>
            <a:br>
              <a:rPr lang="en-US" dirty="0"/>
            </a:br>
            <a:r>
              <a:rPr lang="en-US" sz="1800" b="0" cap="none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data is related with direct marketing campaigns (phone calls) of a Portuguese banking institution. The classification goal is to predict if the client will subscribe a term deposit (variable y)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58C611-969E-4334-42D9-3AC213A7EB57}"/>
              </a:ext>
            </a:extLst>
          </p:cNvPr>
          <p:cNvSpPr txBox="1"/>
          <p:nvPr/>
        </p:nvSpPr>
        <p:spPr>
          <a:xfrm>
            <a:off x="3304002" y="2210166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endParaRPr lang="en-US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Trebuchet MS"/>
              <a:cs typeface="Times New Roman" panose="02020603050405020304" pitchFamily="18" charset="0"/>
              <a:sym typeface="Trebuchet MS"/>
            </a:endParaRPr>
          </a:p>
          <a:p>
            <a:pPr lvl="0">
              <a:buClr>
                <a:srgbClr val="000000"/>
              </a:buClr>
              <a:buSzPts val="4400"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Trebuchet MS"/>
                <a:cs typeface="Times New Roman" panose="02020603050405020304" pitchFamily="18" charset="0"/>
                <a:sym typeface="Trebuchet MS"/>
              </a:rPr>
              <a:t>By</a:t>
            </a:r>
          </a:p>
          <a:p>
            <a:pPr lvl="0">
              <a:buClr>
                <a:srgbClr val="000000"/>
              </a:buClr>
              <a:buSzPts val="4400"/>
            </a:pPr>
            <a:endParaRPr lang="en-US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Trebuchet MS"/>
              <a:cs typeface="Times New Roman" panose="02020603050405020304" pitchFamily="18" charset="0"/>
              <a:sym typeface="Trebuchet MS"/>
            </a:endParaRPr>
          </a:p>
          <a:p>
            <a:pPr lvl="0">
              <a:buClr>
                <a:srgbClr val="000000"/>
              </a:buClr>
              <a:buSzPts val="4400"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Trebuchet MS"/>
                <a:cs typeface="Times New Roman" panose="02020603050405020304" pitchFamily="18" charset="0"/>
                <a:sym typeface="Trebuchet MS"/>
              </a:rPr>
              <a:t>Gowri C</a:t>
            </a:r>
          </a:p>
          <a:p>
            <a:pPr lvl="0">
              <a:buClr>
                <a:srgbClr val="000000"/>
              </a:buClr>
              <a:buSzPts val="4400"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Trebuchet MS"/>
                <a:cs typeface="Times New Roman" panose="02020603050405020304" pitchFamily="18" charset="0"/>
                <a:sym typeface="Trebuchet MS"/>
              </a:rPr>
              <a:t>Candidate ID: 16299</a:t>
            </a:r>
          </a:p>
          <a:p>
            <a:pPr lvl="0">
              <a:buClr>
                <a:srgbClr val="000000"/>
              </a:buClr>
              <a:buSzPts val="4400"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Trebuchet MS"/>
                <a:cs typeface="Times New Roman" panose="02020603050405020304" pitchFamily="18" charset="0"/>
                <a:sym typeface="Trebuchet MS"/>
              </a:rPr>
              <a:t>Batch: LB_DSC_6th Sep_WKDY_EN_24</a:t>
            </a:r>
            <a:endParaRPr lang="en-US" sz="1800" b="0" i="0" u="none" strike="noStrike" cap="none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Trebuchet MS"/>
              <a:cs typeface="Times New Roman" panose="02020603050405020304" pitchFamily="18" charset="0"/>
              <a:sym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710" y="163010"/>
            <a:ext cx="6583680" cy="672672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3961" y="928688"/>
            <a:ext cx="7433187" cy="3138948"/>
          </a:xfrm>
        </p:spPr>
        <p:txBody>
          <a:bodyPr>
            <a:normAutofit fontScale="70000" lnSpcReduction="20000"/>
          </a:bodyPr>
          <a:lstStyle/>
          <a:p>
            <a:r>
              <a:rPr lang="en-IN" b="1" dirty="0"/>
              <a:t>Abstract</a:t>
            </a:r>
            <a:r>
              <a:rPr lang="en-IN" dirty="0"/>
              <a:t>-Data from a marketing campaign run by Retail bank is examined. The campaign’s aim was to increase customers’ subscription rates to fixed-term deposit products, such as CDs. Using knowledge from the course, a number of machine learning algorithms are implemented to answer the question: How can banks successfully market these products in the most efficient way possible and with the highest possible rate of success? </a:t>
            </a:r>
          </a:p>
          <a:p>
            <a:endParaRPr lang="en-IN" dirty="0"/>
          </a:p>
          <a:p>
            <a:r>
              <a:rPr lang="en-US" b="1" dirty="0"/>
              <a:t>Goal</a:t>
            </a:r>
            <a:r>
              <a:rPr lang="en-US" dirty="0"/>
              <a:t>-</a:t>
            </a:r>
            <a:r>
              <a:rPr lang="en-IN" dirty="0"/>
              <a:t>The classification goal is to predict if the client will subscribe (yes/no) a term deposit(variable y).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F39645-B24A-64F4-3EAD-29D0B383A5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961" y="4160641"/>
            <a:ext cx="11376864" cy="2407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51E77-343F-6CB7-55DC-029283719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1" y="29037"/>
            <a:ext cx="6583680" cy="1799302"/>
          </a:xfrm>
        </p:spPr>
        <p:txBody>
          <a:bodyPr/>
          <a:lstStyle/>
          <a:p>
            <a:r>
              <a:rPr lang="en-US" sz="3200" dirty="0"/>
              <a:t>Steps followed to build predictive model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FDF09C-2517-3C93-063C-709A5188D6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1445" y="2192594"/>
            <a:ext cx="6996635" cy="4409766"/>
          </a:xfrm>
        </p:spPr>
        <p:txBody>
          <a:bodyPr>
            <a:normAutofit fontScale="70000" lnSpcReduction="20000"/>
          </a:bodyPr>
          <a:lstStyle/>
          <a:p>
            <a:pPr marL="342900" indent="-342900">
              <a:buAutoNum type="arabicPeriod"/>
            </a:pPr>
            <a:r>
              <a:rPr lang="en-US" dirty="0"/>
              <a:t>Importing required libraries &amp; the data</a:t>
            </a:r>
          </a:p>
          <a:p>
            <a:pPr marL="342900" indent="-342900">
              <a:buAutoNum type="arabicPeriod"/>
            </a:pPr>
            <a:r>
              <a:rPr lang="en-US" dirty="0"/>
              <a:t>Separate the dataset into input (independent features) &amp; output data (dependent feature)</a:t>
            </a:r>
          </a:p>
          <a:p>
            <a:pPr marL="342900" indent="-342900">
              <a:buAutoNum type="arabicPeriod"/>
            </a:pPr>
            <a:r>
              <a:rPr lang="en-US" dirty="0"/>
              <a:t>Data Pre-processing (includes data cleaning, removing duplicate values, Outlier handling)</a:t>
            </a:r>
          </a:p>
          <a:p>
            <a:pPr marL="342900" indent="-342900">
              <a:buAutoNum type="arabicPeriod"/>
            </a:pPr>
            <a:r>
              <a:rPr lang="en-US" dirty="0"/>
              <a:t>Dividing the data set into training and testing data</a:t>
            </a:r>
          </a:p>
          <a:p>
            <a:pPr marL="342900" indent="-342900">
              <a:buAutoNum type="arabicPeriod"/>
            </a:pPr>
            <a:r>
              <a:rPr lang="en-US" dirty="0"/>
              <a:t>Handling Data Imbalance issue </a:t>
            </a:r>
          </a:p>
          <a:p>
            <a:pPr marL="342900" indent="-342900">
              <a:buAutoNum type="arabicPeriod"/>
            </a:pPr>
            <a:r>
              <a:rPr lang="en-US" dirty="0"/>
              <a:t>Model building</a:t>
            </a:r>
          </a:p>
          <a:p>
            <a:pPr marL="342900" indent="-342900">
              <a:buAutoNum type="arabicPeriod"/>
            </a:pPr>
            <a:r>
              <a:rPr lang="en-US" dirty="0"/>
              <a:t>Comparing different models based on evaluation metrics to select the most suitable model.</a:t>
            </a:r>
          </a:p>
          <a:p>
            <a:pPr marL="342900" indent="-342900">
              <a:buAutoNum type="arabicPeriod"/>
            </a:pPr>
            <a:r>
              <a:rPr lang="en-IN" dirty="0"/>
              <a:t>Extracting out important features defining the features having maximum impact on predicting the output.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9D5FF5-1D1E-1FD2-E8D4-F80807C857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79486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81A10-756A-A7B1-E4B7-866D00881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483" y="50337"/>
            <a:ext cx="6980903" cy="878351"/>
          </a:xfrm>
        </p:spPr>
        <p:txBody>
          <a:bodyPr/>
          <a:lstStyle/>
          <a:p>
            <a:r>
              <a:rPr lang="en-IN" dirty="0"/>
              <a:t>Model building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D66F36-4279-05E6-C9FC-245837998F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094" y="3778537"/>
            <a:ext cx="6583680" cy="3207344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05D1CE-E961-C04A-43BF-C3BDAC84F3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CBFBCE-CC1E-A47D-86DD-6BF40C5C06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562" y="4485567"/>
            <a:ext cx="4459686" cy="222960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9297801-5D1A-8539-46FA-1D87CFFE8D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224"/>
            <a:ext cx="5742039" cy="30893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114830D-39B0-D925-F565-F338C33E1B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4506" y="837708"/>
            <a:ext cx="6157494" cy="5041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785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F2129-4C8A-E951-BDBA-167AC1B89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1957" y="1755365"/>
            <a:ext cx="7043617" cy="1587603"/>
          </a:xfrm>
        </p:spPr>
        <p:txBody>
          <a:bodyPr/>
          <a:lstStyle/>
          <a:p>
            <a:r>
              <a:rPr lang="en-IN" sz="4400" dirty="0"/>
              <a:t>Thank you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B5D8049-927C-F3A6-1ADB-5A6C7079E0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3673064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{B00550EC-980E-4E3B-B526-9B2E47DC7594}TF8a9b5915-b8c7-461e-8cdd-693d48b5e32371f7b7e2_win32-4bf0b9a2ea37</Template>
  <TotalTime>236</TotalTime>
  <Words>252</Words>
  <Application>Microsoft Office PowerPoint</Application>
  <PresentationFormat>Widescreen</PresentationFormat>
  <Paragraphs>26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Arial Black</vt:lpstr>
      <vt:lpstr>Calibri</vt:lpstr>
      <vt:lpstr>Sabon Next LT</vt:lpstr>
      <vt:lpstr>Times New Roman</vt:lpstr>
      <vt:lpstr>Custom</vt:lpstr>
      <vt:lpstr>BANKING PROJECT  The data is related with direct marketing campaigns (phone calls) of a Portuguese banking institution. The classification goal is to predict if the client will subscribe a term deposit (variable y)</vt:lpstr>
      <vt:lpstr>agenda</vt:lpstr>
      <vt:lpstr>Steps followed to build predictive model</vt:lpstr>
      <vt:lpstr>Model building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gowric.senthilkumar@outlook.com</dc:creator>
  <cp:lastModifiedBy>gowric.senthilkumar@outlook.com</cp:lastModifiedBy>
  <cp:revision>9</cp:revision>
  <dcterms:created xsi:type="dcterms:W3CDTF">2026-02-03T09:27:42Z</dcterms:created>
  <dcterms:modified xsi:type="dcterms:W3CDTF">2026-02-27T08:49:39Z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